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Bebas Neue Cyrillic" charset="1" panose="02000506000000020004"/>
      <p:regular r:id="rId25"/>
    </p:embeddedFont>
    <p:embeddedFont>
      <p:font typeface="Poppins" charset="1" panose="00000500000000000000"/>
      <p:regular r:id="rId26"/>
    </p:embeddedFont>
    <p:embeddedFont>
      <p:font typeface="HK Grotesk" charset="1" panose="00000500000000000000"/>
      <p:regular r:id="rId27"/>
    </p:embeddedFont>
    <p:embeddedFont>
      <p:font typeface="HK Grotesk Bold" charset="1" panose="00000800000000000000"/>
      <p:regular r:id="rId28"/>
    </p:embeddedFont>
    <p:embeddedFont>
      <p:font typeface="Poppins Bold" charset="1" panose="000008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2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2563756" y="0"/>
            <a:ext cx="5724244" cy="6734405"/>
          </a:xfrm>
          <a:custGeom>
            <a:avLst/>
            <a:gdLst/>
            <a:ahLst/>
            <a:cxnLst/>
            <a:rect r="r" b="b" t="t" l="l"/>
            <a:pathLst>
              <a:path h="6734405" w="5724244">
                <a:moveTo>
                  <a:pt x="5724244" y="0"/>
                </a:moveTo>
                <a:lnTo>
                  <a:pt x="0" y="0"/>
                </a:lnTo>
                <a:lnTo>
                  <a:pt x="0" y="6734405"/>
                </a:lnTo>
                <a:lnTo>
                  <a:pt x="5724244" y="6734405"/>
                </a:lnTo>
                <a:lnTo>
                  <a:pt x="572424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1899" y="2118318"/>
            <a:ext cx="6729087" cy="625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71"/>
              </a:lnSpc>
            </a:pPr>
            <a:r>
              <a:rPr lang="en-US" sz="9771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Design of a Pipelined ANN Processing Element for RISC-V Core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-1650481" y="6205608"/>
            <a:ext cx="5724244" cy="6734405"/>
          </a:xfrm>
          <a:custGeom>
            <a:avLst/>
            <a:gdLst/>
            <a:ahLst/>
            <a:cxnLst/>
            <a:rect r="r" b="b" t="t" l="l"/>
            <a:pathLst>
              <a:path h="6734405" w="5724244">
                <a:moveTo>
                  <a:pt x="0" y="6734405"/>
                </a:moveTo>
                <a:lnTo>
                  <a:pt x="5724245" y="6734405"/>
                </a:lnTo>
                <a:lnTo>
                  <a:pt x="5724245" y="0"/>
                </a:lnTo>
                <a:lnTo>
                  <a:pt x="0" y="0"/>
                </a:lnTo>
                <a:lnTo>
                  <a:pt x="0" y="67344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2290388" y="8768788"/>
            <a:ext cx="5038505" cy="9525"/>
          </a:xfrm>
          <a:prstGeom prst="line">
            <a:avLst/>
          </a:prstGeom>
          <a:ln cap="flat" w="19050">
            <a:solidFill>
              <a:srgbClr val="E8E8E8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731870" cy="908643"/>
          </a:xfrm>
          <a:custGeom>
            <a:avLst/>
            <a:gdLst/>
            <a:ahLst/>
            <a:cxnLst/>
            <a:rect r="r" b="b" t="t" l="l"/>
            <a:pathLst>
              <a:path h="908643" w="731870">
                <a:moveTo>
                  <a:pt x="0" y="0"/>
                </a:moveTo>
                <a:lnTo>
                  <a:pt x="731870" y="0"/>
                </a:lnTo>
                <a:lnTo>
                  <a:pt x="731870" y="908643"/>
                </a:lnTo>
                <a:lnTo>
                  <a:pt x="0" y="9086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123849" y="4584716"/>
            <a:ext cx="6328303" cy="5814128"/>
          </a:xfrm>
          <a:custGeom>
            <a:avLst/>
            <a:gdLst/>
            <a:ahLst/>
            <a:cxnLst/>
            <a:rect r="r" b="b" t="t" l="l"/>
            <a:pathLst>
              <a:path h="5814128" w="6328303">
                <a:moveTo>
                  <a:pt x="0" y="0"/>
                </a:moveTo>
                <a:lnTo>
                  <a:pt x="6328302" y="0"/>
                </a:lnTo>
                <a:lnTo>
                  <a:pt x="6328302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530213" y="8174415"/>
            <a:ext cx="6729087" cy="151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3899">
                <a:solidFill>
                  <a:srgbClr val="104378"/>
                </a:solidFill>
                <a:latin typeface="Poppins"/>
                <a:ea typeface="Poppins"/>
                <a:cs typeface="Poppins"/>
                <a:sym typeface="Poppins"/>
              </a:rPr>
              <a:t>By Irfa Farooq</a:t>
            </a:r>
          </a:p>
          <a:p>
            <a:pPr algn="l">
              <a:lnSpc>
                <a:spcPts val="3899"/>
              </a:lnSpc>
            </a:pPr>
            <a:r>
              <a:rPr lang="en-US" sz="3899">
                <a:solidFill>
                  <a:srgbClr val="104378"/>
                </a:solidFill>
                <a:latin typeface="Poppins"/>
                <a:ea typeface="Poppins"/>
                <a:cs typeface="Poppins"/>
                <a:sym typeface="Poppins"/>
              </a:rPr>
              <a:t>     Khansa Mishqat</a:t>
            </a:r>
          </a:p>
          <a:p>
            <a:pPr algn="l">
              <a:lnSpc>
                <a:spcPts val="3899"/>
              </a:lnSpc>
            </a:pPr>
            <a:r>
              <a:rPr lang="en-US" sz="3899">
                <a:solidFill>
                  <a:srgbClr val="104378"/>
                </a:solidFill>
                <a:latin typeface="Poppins"/>
                <a:ea typeface="Poppins"/>
                <a:cs typeface="Poppins"/>
                <a:sym typeface="Poppins"/>
              </a:rPr>
              <a:t>     Haseeb Umer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604682">
            <a:off x="16199619" y="7040622"/>
            <a:ext cx="6328303" cy="5814128"/>
          </a:xfrm>
          <a:custGeom>
            <a:avLst/>
            <a:gdLst/>
            <a:ahLst/>
            <a:cxnLst/>
            <a:rect r="r" b="b" t="t" l="l"/>
            <a:pathLst>
              <a:path h="5814128" w="6328303">
                <a:moveTo>
                  <a:pt x="0" y="0"/>
                </a:moveTo>
                <a:lnTo>
                  <a:pt x="6328302" y="0"/>
                </a:lnTo>
                <a:lnTo>
                  <a:pt x="6328302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16486" y="1721936"/>
            <a:ext cx="9473907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Table Of Content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56520" y="5188566"/>
            <a:ext cx="2522401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36481" y="5188566"/>
            <a:ext cx="2081778" cy="87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79215" y="5188566"/>
            <a:ext cx="190329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95891" y="5179342"/>
            <a:ext cx="1677197" cy="87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System’s Model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08098" y="5187740"/>
            <a:ext cx="2633419" cy="130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Mathematical Model of ANN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21689" y="7660028"/>
            <a:ext cx="2580759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Architecture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56520" y="4167155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36481" y="4167155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79215" y="4167155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95891" y="4167155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008098" y="4167155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36481" y="6639443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06</a:t>
            </a:r>
          </a:p>
        </p:txBody>
      </p:sp>
      <p:sp>
        <p:nvSpPr>
          <p:cNvPr name="Freeform 16" id="16"/>
          <p:cNvSpPr/>
          <p:nvPr/>
        </p:nvSpPr>
        <p:spPr>
          <a:xfrm flipH="true" flipV="true" rot="0">
            <a:off x="-3011817" y="0"/>
            <a:ext cx="6328303" cy="5814128"/>
          </a:xfrm>
          <a:custGeom>
            <a:avLst/>
            <a:gdLst/>
            <a:ahLst/>
            <a:cxnLst/>
            <a:rect r="r" b="b" t="t" l="l"/>
            <a:pathLst>
              <a:path h="5814128" w="6328303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3275999" y="1032399"/>
            <a:ext cx="3983301" cy="959975"/>
            <a:chOff x="0" y="0"/>
            <a:chExt cx="1049100" cy="2528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9100" cy="252833"/>
            </a:xfrm>
            <a:custGeom>
              <a:avLst/>
              <a:gdLst/>
              <a:ahLst/>
              <a:cxnLst/>
              <a:rect r="r" b="b" t="t" l="l"/>
              <a:pathLst>
                <a:path h="252833" w="1049100">
                  <a:moveTo>
                    <a:pt x="38872" y="0"/>
                  </a:moveTo>
                  <a:lnTo>
                    <a:pt x="1010228" y="0"/>
                  </a:lnTo>
                  <a:cubicBezTo>
                    <a:pt x="1031696" y="0"/>
                    <a:pt x="1049100" y="17404"/>
                    <a:pt x="1049100" y="38872"/>
                  </a:cubicBezTo>
                  <a:lnTo>
                    <a:pt x="1049100" y="213961"/>
                  </a:lnTo>
                  <a:cubicBezTo>
                    <a:pt x="1049100" y="235429"/>
                    <a:pt x="1031696" y="252833"/>
                    <a:pt x="1010228" y="252833"/>
                  </a:cubicBezTo>
                  <a:lnTo>
                    <a:pt x="38872" y="252833"/>
                  </a:lnTo>
                  <a:cubicBezTo>
                    <a:pt x="28562" y="252833"/>
                    <a:pt x="18675" y="248737"/>
                    <a:pt x="11385" y="241448"/>
                  </a:cubicBezTo>
                  <a:cubicBezTo>
                    <a:pt x="4095" y="234158"/>
                    <a:pt x="0" y="224270"/>
                    <a:pt x="0" y="213961"/>
                  </a:cubicBezTo>
                  <a:lnTo>
                    <a:pt x="0" y="38872"/>
                  </a:lnTo>
                  <a:cubicBezTo>
                    <a:pt x="0" y="17404"/>
                    <a:pt x="17404" y="0"/>
                    <a:pt x="38872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49100" cy="290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0" id="20"/>
          <p:cNvSpPr/>
          <p:nvPr/>
        </p:nvSpPr>
        <p:spPr>
          <a:xfrm flipV="true">
            <a:off x="13842054" y="1502861"/>
            <a:ext cx="2976287" cy="9525"/>
          </a:xfrm>
          <a:prstGeom prst="line">
            <a:avLst/>
          </a:prstGeom>
          <a:ln cap="flat" w="19050">
            <a:solidFill>
              <a:srgbClr val="E8E8E8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1" id="21"/>
          <p:cNvSpPr txBox="true"/>
          <p:nvPr/>
        </p:nvSpPr>
        <p:spPr>
          <a:xfrm rot="0">
            <a:off x="8379215" y="7660028"/>
            <a:ext cx="2580759" cy="87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Custom Instruction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79215" y="6639443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07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95891" y="7660028"/>
            <a:ext cx="2580759" cy="87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Results &amp; Conclusion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95891" y="6639443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08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41332" y="1028700"/>
            <a:ext cx="5346668" cy="9258300"/>
          </a:xfrm>
          <a:custGeom>
            <a:avLst/>
            <a:gdLst/>
            <a:ahLst/>
            <a:cxnLst/>
            <a:rect r="r" b="b" t="t" l="l"/>
            <a:pathLst>
              <a:path h="9258300" w="5346668">
                <a:moveTo>
                  <a:pt x="0" y="0"/>
                </a:moveTo>
                <a:lnTo>
                  <a:pt x="5346668" y="0"/>
                </a:lnTo>
                <a:lnTo>
                  <a:pt x="534666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71367" y="1946441"/>
            <a:ext cx="8779060" cy="1339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INTRODUCTION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-3635828" y="-156278"/>
            <a:ext cx="6328303" cy="5814128"/>
          </a:xfrm>
          <a:custGeom>
            <a:avLst/>
            <a:gdLst/>
            <a:ahLst/>
            <a:cxnLst/>
            <a:rect r="r" b="b" t="t" l="l"/>
            <a:pathLst>
              <a:path h="5814128" w="6328303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951552" y="3463745"/>
            <a:ext cx="11603971" cy="5472724"/>
            <a:chOff x="0" y="0"/>
            <a:chExt cx="3423319" cy="16145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23319" cy="1614523"/>
            </a:xfrm>
            <a:custGeom>
              <a:avLst/>
              <a:gdLst/>
              <a:ahLst/>
              <a:cxnLst/>
              <a:rect r="r" b="b" t="t" l="l"/>
              <a:pathLst>
                <a:path h="1614523" w="3423319">
                  <a:moveTo>
                    <a:pt x="13344" y="0"/>
                  </a:moveTo>
                  <a:lnTo>
                    <a:pt x="3409976" y="0"/>
                  </a:lnTo>
                  <a:cubicBezTo>
                    <a:pt x="3417345" y="0"/>
                    <a:pt x="3423319" y="5974"/>
                    <a:pt x="3423319" y="13344"/>
                  </a:cubicBezTo>
                  <a:lnTo>
                    <a:pt x="3423319" y="1601180"/>
                  </a:lnTo>
                  <a:cubicBezTo>
                    <a:pt x="3423319" y="1604719"/>
                    <a:pt x="3421913" y="1608113"/>
                    <a:pt x="3419411" y="1610615"/>
                  </a:cubicBezTo>
                  <a:cubicBezTo>
                    <a:pt x="3416908" y="1613117"/>
                    <a:pt x="3413515" y="1614523"/>
                    <a:pt x="3409976" y="1614523"/>
                  </a:cubicBezTo>
                  <a:lnTo>
                    <a:pt x="13344" y="1614523"/>
                  </a:lnTo>
                  <a:cubicBezTo>
                    <a:pt x="5974" y="1614523"/>
                    <a:pt x="0" y="1608549"/>
                    <a:pt x="0" y="1601180"/>
                  </a:cubicBezTo>
                  <a:lnTo>
                    <a:pt x="0" y="13344"/>
                  </a:lnTo>
                  <a:cubicBezTo>
                    <a:pt x="0" y="5974"/>
                    <a:pt x="5974" y="0"/>
                    <a:pt x="13344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423319" cy="1652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506944" y="3772518"/>
            <a:ext cx="9536519" cy="534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5300" indent="-317650" lvl="1">
              <a:lnSpc>
                <a:spcPts val="3531"/>
              </a:lnSpc>
              <a:buFont typeface="Arial"/>
              <a:buChar char="•"/>
            </a:pPr>
            <a:r>
              <a:rPr lang="en-US" sz="294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Embedded devices are now expected to support machine learning inference.</a:t>
            </a:r>
          </a:p>
          <a:p>
            <a:pPr algn="just" marL="635300" indent="-317650" lvl="1">
              <a:lnSpc>
                <a:spcPts val="3531"/>
              </a:lnSpc>
              <a:buFont typeface="Arial"/>
              <a:buChar char="•"/>
            </a:pPr>
            <a:r>
              <a:rPr lang="en-US" sz="294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Neural networks are dominated by MAC operations</a:t>
            </a:r>
          </a:p>
          <a:p>
            <a:pPr algn="just" marL="613710" indent="-306855" lvl="1">
              <a:lnSpc>
                <a:spcPts val="3411"/>
              </a:lnSpc>
              <a:buFont typeface="Arial"/>
              <a:buChar char="•"/>
            </a:pPr>
            <a:r>
              <a:rPr lang="en-US" sz="284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RISC-V cores are flexible but inefficient for ANN inference</a:t>
            </a:r>
          </a:p>
          <a:p>
            <a:pPr algn="just" marL="635300" indent="-317650" lvl="1">
              <a:lnSpc>
                <a:spcPts val="3531"/>
              </a:lnSpc>
              <a:buFont typeface="Arial"/>
              <a:buChar char="•"/>
            </a:pPr>
            <a:r>
              <a:rPr lang="en-US" sz="294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Software-only execution causes high latency and energy cost</a:t>
            </a:r>
          </a:p>
          <a:p>
            <a:pPr algn="just" marL="635300" indent="-317650" lvl="1">
              <a:lnSpc>
                <a:spcPts val="3531"/>
              </a:lnSpc>
              <a:buFont typeface="Arial"/>
              <a:buChar char="•"/>
            </a:pPr>
            <a:r>
              <a:rPr lang="en-US" sz="294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Hardware acceleration via a dedicated ANN Processing Element (PE)</a:t>
            </a:r>
          </a:p>
          <a:p>
            <a:pPr algn="just" marL="635300" indent="-317650" lvl="1">
              <a:lnSpc>
                <a:spcPts val="3531"/>
              </a:lnSpc>
              <a:buFont typeface="Arial"/>
              <a:buChar char="•"/>
            </a:pPr>
            <a:r>
              <a:rPr lang="en-US" sz="294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Integration of PE into RV32 core enables faster and efficient ANN execution</a:t>
            </a:r>
          </a:p>
          <a:p>
            <a:pPr algn="just">
              <a:lnSpc>
                <a:spcPts val="353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6540207" cy="7694361"/>
          </a:xfrm>
          <a:custGeom>
            <a:avLst/>
            <a:gdLst/>
            <a:ahLst/>
            <a:cxnLst/>
            <a:rect r="r" b="b" t="t" l="l"/>
            <a:pathLst>
              <a:path h="7694361" w="6540207">
                <a:moveTo>
                  <a:pt x="0" y="0"/>
                </a:moveTo>
                <a:lnTo>
                  <a:pt x="6540207" y="0"/>
                </a:lnTo>
                <a:lnTo>
                  <a:pt x="6540207" y="7694361"/>
                </a:lnTo>
                <a:lnTo>
                  <a:pt x="0" y="7694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40207" y="2150618"/>
            <a:ext cx="7428605" cy="1421858"/>
            <a:chOff x="0" y="0"/>
            <a:chExt cx="1956505" cy="3744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56505" cy="374481"/>
            </a:xfrm>
            <a:custGeom>
              <a:avLst/>
              <a:gdLst/>
              <a:ahLst/>
              <a:cxnLst/>
              <a:rect r="r" b="b" t="t" l="l"/>
              <a:pathLst>
                <a:path h="374481" w="1956505">
                  <a:moveTo>
                    <a:pt x="20844" y="0"/>
                  </a:moveTo>
                  <a:lnTo>
                    <a:pt x="1935662" y="0"/>
                  </a:lnTo>
                  <a:cubicBezTo>
                    <a:pt x="1947173" y="0"/>
                    <a:pt x="1956505" y="9332"/>
                    <a:pt x="1956505" y="20844"/>
                  </a:cubicBezTo>
                  <a:lnTo>
                    <a:pt x="1956505" y="353638"/>
                  </a:lnTo>
                  <a:cubicBezTo>
                    <a:pt x="1956505" y="359166"/>
                    <a:pt x="1954309" y="364467"/>
                    <a:pt x="1950400" y="368376"/>
                  </a:cubicBezTo>
                  <a:cubicBezTo>
                    <a:pt x="1946491" y="372285"/>
                    <a:pt x="1941190" y="374481"/>
                    <a:pt x="1935662" y="374481"/>
                  </a:cubicBezTo>
                  <a:lnTo>
                    <a:pt x="20844" y="374481"/>
                  </a:lnTo>
                  <a:cubicBezTo>
                    <a:pt x="15315" y="374481"/>
                    <a:pt x="10014" y="372285"/>
                    <a:pt x="6105" y="368376"/>
                  </a:cubicBezTo>
                  <a:cubicBezTo>
                    <a:pt x="2196" y="364467"/>
                    <a:pt x="0" y="359166"/>
                    <a:pt x="0" y="353638"/>
                  </a:cubicBezTo>
                  <a:lnTo>
                    <a:pt x="0" y="20844"/>
                  </a:lnTo>
                  <a:cubicBezTo>
                    <a:pt x="0" y="15315"/>
                    <a:pt x="2196" y="10014"/>
                    <a:pt x="6105" y="6105"/>
                  </a:cubicBezTo>
                  <a:cubicBezTo>
                    <a:pt x="10014" y="2196"/>
                    <a:pt x="15315" y="0"/>
                    <a:pt x="20844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56505" cy="412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825269" y="709493"/>
            <a:ext cx="9090207" cy="1339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26582" y="2483352"/>
            <a:ext cx="6847333" cy="819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ANN inference requires multiply–accumulate operations</a:t>
            </a:r>
          </a:p>
        </p:txBody>
      </p:sp>
      <p:sp>
        <p:nvSpPr>
          <p:cNvPr name="Freeform 8" id="8"/>
          <p:cNvSpPr/>
          <p:nvPr/>
        </p:nvSpPr>
        <p:spPr>
          <a:xfrm flipH="false" flipV="true" rot="0">
            <a:off x="-1650481" y="6205608"/>
            <a:ext cx="5724244" cy="6734405"/>
          </a:xfrm>
          <a:custGeom>
            <a:avLst/>
            <a:gdLst/>
            <a:ahLst/>
            <a:cxnLst/>
            <a:rect r="r" b="b" t="t" l="l"/>
            <a:pathLst>
              <a:path h="6734405" w="5724244">
                <a:moveTo>
                  <a:pt x="0" y="6734405"/>
                </a:moveTo>
                <a:lnTo>
                  <a:pt x="5724245" y="6734405"/>
                </a:lnTo>
                <a:lnTo>
                  <a:pt x="5724245" y="0"/>
                </a:lnTo>
                <a:lnTo>
                  <a:pt x="0" y="0"/>
                </a:lnTo>
                <a:lnTo>
                  <a:pt x="0" y="67344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540207" y="3770380"/>
            <a:ext cx="7428605" cy="2723536"/>
            <a:chOff x="0" y="0"/>
            <a:chExt cx="1956505" cy="7173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6505" cy="717310"/>
            </a:xfrm>
            <a:custGeom>
              <a:avLst/>
              <a:gdLst/>
              <a:ahLst/>
              <a:cxnLst/>
              <a:rect r="r" b="b" t="t" l="l"/>
              <a:pathLst>
                <a:path h="717310" w="1956505">
                  <a:moveTo>
                    <a:pt x="20844" y="0"/>
                  </a:moveTo>
                  <a:lnTo>
                    <a:pt x="1935662" y="0"/>
                  </a:lnTo>
                  <a:cubicBezTo>
                    <a:pt x="1947173" y="0"/>
                    <a:pt x="1956505" y="9332"/>
                    <a:pt x="1956505" y="20844"/>
                  </a:cubicBezTo>
                  <a:lnTo>
                    <a:pt x="1956505" y="696466"/>
                  </a:lnTo>
                  <a:cubicBezTo>
                    <a:pt x="1956505" y="701994"/>
                    <a:pt x="1954309" y="707296"/>
                    <a:pt x="1950400" y="711205"/>
                  </a:cubicBezTo>
                  <a:cubicBezTo>
                    <a:pt x="1946491" y="715114"/>
                    <a:pt x="1941190" y="717310"/>
                    <a:pt x="1935662" y="717310"/>
                  </a:cubicBezTo>
                  <a:lnTo>
                    <a:pt x="20844" y="717310"/>
                  </a:lnTo>
                  <a:cubicBezTo>
                    <a:pt x="15315" y="717310"/>
                    <a:pt x="10014" y="715114"/>
                    <a:pt x="6105" y="711205"/>
                  </a:cubicBezTo>
                  <a:cubicBezTo>
                    <a:pt x="2196" y="707296"/>
                    <a:pt x="0" y="701994"/>
                    <a:pt x="0" y="696466"/>
                  </a:cubicBezTo>
                  <a:lnTo>
                    <a:pt x="0" y="20844"/>
                  </a:lnTo>
                  <a:cubicBezTo>
                    <a:pt x="0" y="15315"/>
                    <a:pt x="2196" y="10014"/>
                    <a:pt x="6105" y="6105"/>
                  </a:cubicBezTo>
                  <a:cubicBezTo>
                    <a:pt x="10014" y="2196"/>
                    <a:pt x="15315" y="0"/>
                    <a:pt x="20844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56505" cy="755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937653" y="3918342"/>
            <a:ext cx="6847333" cy="2457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RV32 executes MACs using multiple instructions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which Results in:</a:t>
            </a:r>
          </a:p>
          <a:p>
            <a:pPr algn="l" marL="582932" indent="-291466" lvl="1">
              <a:lnSpc>
                <a:spcPts val="3240"/>
              </a:lnSpc>
              <a:buAutoNum type="arabicPeriod" startAt="1"/>
            </a:pPr>
            <a:r>
              <a:rPr lang="en-US" sz="27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High execution latency</a:t>
            </a:r>
          </a:p>
          <a:p>
            <a:pPr algn="l" marL="582932" indent="-291466" lvl="1">
              <a:lnSpc>
                <a:spcPts val="3240"/>
              </a:lnSpc>
              <a:buAutoNum type="arabicPeriod" startAt="1"/>
            </a:pPr>
            <a:r>
              <a:rPr lang="en-US" sz="27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Increased energy consumption</a:t>
            </a:r>
          </a:p>
          <a:p>
            <a:pPr algn="l" marL="582932" indent="-291466" lvl="1">
              <a:lnSpc>
                <a:spcPts val="3240"/>
              </a:lnSpc>
              <a:buAutoNum type="arabicPeriod" startAt="1"/>
            </a:pPr>
            <a:r>
              <a:rPr lang="en-US" sz="27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Inefficient use of processor resources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40207" y="6691820"/>
            <a:ext cx="7424345" cy="1394279"/>
            <a:chOff x="0" y="0"/>
            <a:chExt cx="1955383" cy="3672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5383" cy="367217"/>
            </a:xfrm>
            <a:custGeom>
              <a:avLst/>
              <a:gdLst/>
              <a:ahLst/>
              <a:cxnLst/>
              <a:rect r="r" b="b" t="t" l="l"/>
              <a:pathLst>
                <a:path h="367217" w="1955383">
                  <a:moveTo>
                    <a:pt x="20855" y="0"/>
                  </a:moveTo>
                  <a:lnTo>
                    <a:pt x="1934527" y="0"/>
                  </a:lnTo>
                  <a:cubicBezTo>
                    <a:pt x="1946046" y="0"/>
                    <a:pt x="1955383" y="9337"/>
                    <a:pt x="1955383" y="20855"/>
                  </a:cubicBezTo>
                  <a:lnTo>
                    <a:pt x="1955383" y="346362"/>
                  </a:lnTo>
                  <a:cubicBezTo>
                    <a:pt x="1955383" y="357880"/>
                    <a:pt x="1946046" y="367217"/>
                    <a:pt x="1934527" y="367217"/>
                  </a:cubicBezTo>
                  <a:lnTo>
                    <a:pt x="20855" y="367217"/>
                  </a:lnTo>
                  <a:cubicBezTo>
                    <a:pt x="9337" y="367217"/>
                    <a:pt x="0" y="357880"/>
                    <a:pt x="0" y="346362"/>
                  </a:cubicBezTo>
                  <a:lnTo>
                    <a:pt x="0" y="20855"/>
                  </a:lnTo>
                  <a:cubicBezTo>
                    <a:pt x="0" y="9337"/>
                    <a:pt x="9337" y="0"/>
                    <a:pt x="20855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55383" cy="405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933392" y="7009022"/>
            <a:ext cx="6847333" cy="819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Floating-point support is expensive in hardware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17452" y="1638666"/>
            <a:ext cx="8188217" cy="1339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PROPOSED SOLUTION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008026" y="4178453"/>
            <a:ext cx="3339748" cy="1996037"/>
            <a:chOff x="0" y="0"/>
            <a:chExt cx="985268" cy="5888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5268" cy="588856"/>
            </a:xfrm>
            <a:custGeom>
              <a:avLst/>
              <a:gdLst/>
              <a:ahLst/>
              <a:cxnLst/>
              <a:rect r="r" b="b" t="t" l="l"/>
              <a:pathLst>
                <a:path h="588856" w="985268">
                  <a:moveTo>
                    <a:pt x="46362" y="0"/>
                  </a:moveTo>
                  <a:lnTo>
                    <a:pt x="938906" y="0"/>
                  </a:lnTo>
                  <a:cubicBezTo>
                    <a:pt x="964511" y="0"/>
                    <a:pt x="985268" y="20757"/>
                    <a:pt x="985268" y="46362"/>
                  </a:cubicBezTo>
                  <a:lnTo>
                    <a:pt x="985268" y="542494"/>
                  </a:lnTo>
                  <a:cubicBezTo>
                    <a:pt x="985268" y="568099"/>
                    <a:pt x="964511" y="588856"/>
                    <a:pt x="938906" y="588856"/>
                  </a:cubicBezTo>
                  <a:lnTo>
                    <a:pt x="46362" y="588856"/>
                  </a:lnTo>
                  <a:cubicBezTo>
                    <a:pt x="34066" y="588856"/>
                    <a:pt x="22274" y="583972"/>
                    <a:pt x="13579" y="575277"/>
                  </a:cubicBezTo>
                  <a:cubicBezTo>
                    <a:pt x="4885" y="566583"/>
                    <a:pt x="0" y="554790"/>
                    <a:pt x="0" y="542494"/>
                  </a:cubicBezTo>
                  <a:lnTo>
                    <a:pt x="0" y="46362"/>
                  </a:lnTo>
                  <a:cubicBezTo>
                    <a:pt x="0" y="20757"/>
                    <a:pt x="20757" y="0"/>
                    <a:pt x="46362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85268" cy="626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223811" y="4360135"/>
            <a:ext cx="2908178" cy="1632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sz="267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Integrate a dedicated ANN Processing Element (PE) into RV32 core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0"/>
            <a:ext cx="3214829" cy="3782152"/>
          </a:xfrm>
          <a:custGeom>
            <a:avLst/>
            <a:gdLst/>
            <a:ahLst/>
            <a:cxnLst/>
            <a:rect r="r" b="b" t="t" l="l"/>
            <a:pathLst>
              <a:path h="3782152" w="3214829">
                <a:moveTo>
                  <a:pt x="0" y="0"/>
                </a:moveTo>
                <a:lnTo>
                  <a:pt x="3214829" y="0"/>
                </a:lnTo>
                <a:lnTo>
                  <a:pt x="3214829" y="3782152"/>
                </a:lnTo>
                <a:lnTo>
                  <a:pt x="0" y="3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5897316" y="5194278"/>
            <a:ext cx="4546302" cy="5348590"/>
          </a:xfrm>
          <a:custGeom>
            <a:avLst/>
            <a:gdLst/>
            <a:ahLst/>
            <a:cxnLst/>
            <a:rect r="r" b="b" t="t" l="l"/>
            <a:pathLst>
              <a:path h="5348590" w="4546302">
                <a:moveTo>
                  <a:pt x="4546302" y="5348590"/>
                </a:moveTo>
                <a:lnTo>
                  <a:pt x="0" y="5348590"/>
                </a:lnTo>
                <a:lnTo>
                  <a:pt x="0" y="0"/>
                </a:lnTo>
                <a:lnTo>
                  <a:pt x="4546302" y="0"/>
                </a:lnTo>
                <a:lnTo>
                  <a:pt x="4546302" y="53485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366379" y="4178453"/>
            <a:ext cx="3339748" cy="1996037"/>
            <a:chOff x="0" y="0"/>
            <a:chExt cx="985268" cy="5888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85268" cy="588856"/>
            </a:xfrm>
            <a:custGeom>
              <a:avLst/>
              <a:gdLst/>
              <a:ahLst/>
              <a:cxnLst/>
              <a:rect r="r" b="b" t="t" l="l"/>
              <a:pathLst>
                <a:path h="588856" w="985268">
                  <a:moveTo>
                    <a:pt x="46362" y="0"/>
                  </a:moveTo>
                  <a:lnTo>
                    <a:pt x="938906" y="0"/>
                  </a:lnTo>
                  <a:cubicBezTo>
                    <a:pt x="964511" y="0"/>
                    <a:pt x="985268" y="20757"/>
                    <a:pt x="985268" y="46362"/>
                  </a:cubicBezTo>
                  <a:lnTo>
                    <a:pt x="985268" y="542494"/>
                  </a:lnTo>
                  <a:cubicBezTo>
                    <a:pt x="985268" y="568099"/>
                    <a:pt x="964511" y="588856"/>
                    <a:pt x="938906" y="588856"/>
                  </a:cubicBezTo>
                  <a:lnTo>
                    <a:pt x="46362" y="588856"/>
                  </a:lnTo>
                  <a:cubicBezTo>
                    <a:pt x="34066" y="588856"/>
                    <a:pt x="22274" y="583972"/>
                    <a:pt x="13579" y="575277"/>
                  </a:cubicBezTo>
                  <a:cubicBezTo>
                    <a:pt x="4885" y="566583"/>
                    <a:pt x="0" y="554790"/>
                    <a:pt x="0" y="542494"/>
                  </a:cubicBezTo>
                  <a:lnTo>
                    <a:pt x="0" y="46362"/>
                  </a:lnTo>
                  <a:cubicBezTo>
                    <a:pt x="0" y="20757"/>
                    <a:pt x="20757" y="0"/>
                    <a:pt x="46362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85268" cy="626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582164" y="4360135"/>
            <a:ext cx="2908178" cy="1632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sz="267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Integrate a dedicated ANN Processing Element (PE) into RV32 core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78956" y="4178453"/>
            <a:ext cx="3339748" cy="1996037"/>
            <a:chOff x="0" y="0"/>
            <a:chExt cx="985268" cy="5888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85268" cy="588856"/>
            </a:xfrm>
            <a:custGeom>
              <a:avLst/>
              <a:gdLst/>
              <a:ahLst/>
              <a:cxnLst/>
              <a:rect r="r" b="b" t="t" l="l"/>
              <a:pathLst>
                <a:path h="588856" w="985268">
                  <a:moveTo>
                    <a:pt x="46362" y="0"/>
                  </a:moveTo>
                  <a:lnTo>
                    <a:pt x="938906" y="0"/>
                  </a:lnTo>
                  <a:cubicBezTo>
                    <a:pt x="964511" y="0"/>
                    <a:pt x="985268" y="20757"/>
                    <a:pt x="985268" y="46362"/>
                  </a:cubicBezTo>
                  <a:lnTo>
                    <a:pt x="985268" y="542494"/>
                  </a:lnTo>
                  <a:cubicBezTo>
                    <a:pt x="985268" y="568099"/>
                    <a:pt x="964511" y="588856"/>
                    <a:pt x="938906" y="588856"/>
                  </a:cubicBezTo>
                  <a:lnTo>
                    <a:pt x="46362" y="588856"/>
                  </a:lnTo>
                  <a:cubicBezTo>
                    <a:pt x="34066" y="588856"/>
                    <a:pt x="22274" y="583972"/>
                    <a:pt x="13579" y="575277"/>
                  </a:cubicBezTo>
                  <a:cubicBezTo>
                    <a:pt x="4885" y="566583"/>
                    <a:pt x="0" y="554790"/>
                    <a:pt x="0" y="542494"/>
                  </a:cubicBezTo>
                  <a:lnTo>
                    <a:pt x="0" y="46362"/>
                  </a:lnTo>
                  <a:cubicBezTo>
                    <a:pt x="0" y="20757"/>
                    <a:pt x="20757" y="0"/>
                    <a:pt x="46362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85268" cy="626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804266" y="4531248"/>
            <a:ext cx="2908178" cy="122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sz="267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Pipelined architecture for higher throughput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791534" y="4214065"/>
            <a:ext cx="3339748" cy="1996037"/>
            <a:chOff x="0" y="0"/>
            <a:chExt cx="985268" cy="5888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85268" cy="588856"/>
            </a:xfrm>
            <a:custGeom>
              <a:avLst/>
              <a:gdLst/>
              <a:ahLst/>
              <a:cxnLst/>
              <a:rect r="r" b="b" t="t" l="l"/>
              <a:pathLst>
                <a:path h="588856" w="985268">
                  <a:moveTo>
                    <a:pt x="46362" y="0"/>
                  </a:moveTo>
                  <a:lnTo>
                    <a:pt x="938906" y="0"/>
                  </a:lnTo>
                  <a:cubicBezTo>
                    <a:pt x="964511" y="0"/>
                    <a:pt x="985268" y="20757"/>
                    <a:pt x="985268" y="46362"/>
                  </a:cubicBezTo>
                  <a:lnTo>
                    <a:pt x="985268" y="542494"/>
                  </a:lnTo>
                  <a:cubicBezTo>
                    <a:pt x="985268" y="568099"/>
                    <a:pt x="964511" y="588856"/>
                    <a:pt x="938906" y="588856"/>
                  </a:cubicBezTo>
                  <a:lnTo>
                    <a:pt x="46362" y="588856"/>
                  </a:lnTo>
                  <a:cubicBezTo>
                    <a:pt x="34066" y="588856"/>
                    <a:pt x="22274" y="583972"/>
                    <a:pt x="13579" y="575277"/>
                  </a:cubicBezTo>
                  <a:cubicBezTo>
                    <a:pt x="4885" y="566583"/>
                    <a:pt x="0" y="554790"/>
                    <a:pt x="0" y="542494"/>
                  </a:cubicBezTo>
                  <a:lnTo>
                    <a:pt x="0" y="46362"/>
                  </a:lnTo>
                  <a:cubicBezTo>
                    <a:pt x="0" y="20757"/>
                    <a:pt x="20757" y="0"/>
                    <a:pt x="46362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85268" cy="626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007318" y="4452452"/>
            <a:ext cx="2908178" cy="144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3"/>
              </a:lnSpc>
            </a:pPr>
            <a:r>
              <a:rPr lang="en-US" sz="237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PE accelerates:</a:t>
            </a:r>
          </a:p>
          <a:p>
            <a:pPr algn="ctr" marL="513469" indent="-256735" lvl="1">
              <a:lnSpc>
                <a:spcPts val="2853"/>
              </a:lnSpc>
              <a:buFont typeface="Arial"/>
              <a:buChar char="•"/>
            </a:pPr>
            <a:r>
              <a:rPr lang="en-US" sz="237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Fixed-point MAC operations</a:t>
            </a:r>
          </a:p>
          <a:p>
            <a:pPr algn="ctr" marL="513469" indent="-256735" lvl="1">
              <a:lnSpc>
                <a:spcPts val="2853"/>
              </a:lnSpc>
              <a:buFont typeface="Arial"/>
              <a:buChar char="•"/>
            </a:pPr>
            <a:r>
              <a:rPr lang="en-US" sz="237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ReLU activation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17452" y="1638666"/>
            <a:ext cx="7017052" cy="1339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systeM’s Model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390684" y="3132617"/>
            <a:ext cx="3962410" cy="6125683"/>
            <a:chOff x="0" y="0"/>
            <a:chExt cx="1168961" cy="18071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8961" cy="1807154"/>
            </a:xfrm>
            <a:custGeom>
              <a:avLst/>
              <a:gdLst/>
              <a:ahLst/>
              <a:cxnLst/>
              <a:rect r="r" b="b" t="t" l="l"/>
              <a:pathLst>
                <a:path h="1807154" w="1168961">
                  <a:moveTo>
                    <a:pt x="39077" y="0"/>
                  </a:moveTo>
                  <a:lnTo>
                    <a:pt x="1129885" y="0"/>
                  </a:lnTo>
                  <a:cubicBezTo>
                    <a:pt x="1140248" y="0"/>
                    <a:pt x="1150188" y="4117"/>
                    <a:pt x="1157516" y="11445"/>
                  </a:cubicBezTo>
                  <a:cubicBezTo>
                    <a:pt x="1164844" y="18774"/>
                    <a:pt x="1168961" y="28713"/>
                    <a:pt x="1168961" y="39077"/>
                  </a:cubicBezTo>
                  <a:lnTo>
                    <a:pt x="1168961" y="1768078"/>
                  </a:lnTo>
                  <a:cubicBezTo>
                    <a:pt x="1168961" y="1778441"/>
                    <a:pt x="1164844" y="1788381"/>
                    <a:pt x="1157516" y="1795709"/>
                  </a:cubicBezTo>
                  <a:cubicBezTo>
                    <a:pt x="1150188" y="1803037"/>
                    <a:pt x="1140248" y="1807154"/>
                    <a:pt x="1129885" y="1807154"/>
                  </a:cubicBezTo>
                  <a:lnTo>
                    <a:pt x="39077" y="1807154"/>
                  </a:lnTo>
                  <a:cubicBezTo>
                    <a:pt x="28713" y="1807154"/>
                    <a:pt x="18774" y="1803037"/>
                    <a:pt x="11445" y="1795709"/>
                  </a:cubicBezTo>
                  <a:cubicBezTo>
                    <a:pt x="4117" y="1788381"/>
                    <a:pt x="0" y="1778441"/>
                    <a:pt x="0" y="1768078"/>
                  </a:cubicBezTo>
                  <a:lnTo>
                    <a:pt x="0" y="39077"/>
                  </a:lnTo>
                  <a:cubicBezTo>
                    <a:pt x="0" y="28713"/>
                    <a:pt x="4117" y="18774"/>
                    <a:pt x="11445" y="11445"/>
                  </a:cubicBezTo>
                  <a:cubicBezTo>
                    <a:pt x="18774" y="4117"/>
                    <a:pt x="28713" y="0"/>
                    <a:pt x="39077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68961" cy="1845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793692" y="3543946"/>
            <a:ext cx="2908178" cy="560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sz="2678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ANN Processing Element (PE)</a:t>
            </a:r>
          </a:p>
          <a:p>
            <a:pPr algn="l" marL="578239" indent="-289120" lvl="1">
              <a:lnSpc>
                <a:spcPts val="3213"/>
              </a:lnSpc>
              <a:buFont typeface="Arial"/>
              <a:buChar char="•"/>
            </a:pPr>
            <a:r>
              <a:rPr lang="en-US" sz="267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Fixed-point pipelined neuron implementation</a:t>
            </a:r>
          </a:p>
          <a:p>
            <a:pPr algn="l" marL="578239" indent="-289120" lvl="1">
              <a:lnSpc>
                <a:spcPts val="3213"/>
              </a:lnSpc>
              <a:buFont typeface="Arial"/>
              <a:buChar char="•"/>
            </a:pPr>
            <a:r>
              <a:rPr lang="en-US" sz="267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MAC, ReLU, and Quantization in hardware</a:t>
            </a:r>
          </a:p>
          <a:p>
            <a:pPr algn="l" marL="578239" indent="-289120" lvl="1">
              <a:lnSpc>
                <a:spcPts val="3213"/>
              </a:lnSpc>
              <a:buFont typeface="Arial"/>
              <a:buChar char="•"/>
            </a:pPr>
            <a:r>
              <a:rPr lang="en-US" sz="267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Designed for efficient ANN inference</a:t>
            </a:r>
          </a:p>
          <a:p>
            <a:pPr algn="ctr">
              <a:lnSpc>
                <a:spcPts val="3213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7162871" y="3132617"/>
            <a:ext cx="3962410" cy="6125683"/>
            <a:chOff x="0" y="0"/>
            <a:chExt cx="1168961" cy="18071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68961" cy="1807154"/>
            </a:xfrm>
            <a:custGeom>
              <a:avLst/>
              <a:gdLst/>
              <a:ahLst/>
              <a:cxnLst/>
              <a:rect r="r" b="b" t="t" l="l"/>
              <a:pathLst>
                <a:path h="1807154" w="1168961">
                  <a:moveTo>
                    <a:pt x="39077" y="0"/>
                  </a:moveTo>
                  <a:lnTo>
                    <a:pt x="1129885" y="0"/>
                  </a:lnTo>
                  <a:cubicBezTo>
                    <a:pt x="1140248" y="0"/>
                    <a:pt x="1150188" y="4117"/>
                    <a:pt x="1157516" y="11445"/>
                  </a:cubicBezTo>
                  <a:cubicBezTo>
                    <a:pt x="1164844" y="18774"/>
                    <a:pt x="1168961" y="28713"/>
                    <a:pt x="1168961" y="39077"/>
                  </a:cubicBezTo>
                  <a:lnTo>
                    <a:pt x="1168961" y="1768078"/>
                  </a:lnTo>
                  <a:cubicBezTo>
                    <a:pt x="1168961" y="1778441"/>
                    <a:pt x="1164844" y="1788381"/>
                    <a:pt x="1157516" y="1795709"/>
                  </a:cubicBezTo>
                  <a:cubicBezTo>
                    <a:pt x="1150188" y="1803037"/>
                    <a:pt x="1140248" y="1807154"/>
                    <a:pt x="1129885" y="1807154"/>
                  </a:cubicBezTo>
                  <a:lnTo>
                    <a:pt x="39077" y="1807154"/>
                  </a:lnTo>
                  <a:cubicBezTo>
                    <a:pt x="28713" y="1807154"/>
                    <a:pt x="18774" y="1803037"/>
                    <a:pt x="11445" y="1795709"/>
                  </a:cubicBezTo>
                  <a:cubicBezTo>
                    <a:pt x="4117" y="1788381"/>
                    <a:pt x="0" y="1778441"/>
                    <a:pt x="0" y="1768078"/>
                  </a:cubicBezTo>
                  <a:lnTo>
                    <a:pt x="0" y="39077"/>
                  </a:lnTo>
                  <a:cubicBezTo>
                    <a:pt x="0" y="28713"/>
                    <a:pt x="4117" y="18774"/>
                    <a:pt x="11445" y="11445"/>
                  </a:cubicBezTo>
                  <a:cubicBezTo>
                    <a:pt x="18774" y="4117"/>
                    <a:pt x="28713" y="0"/>
                    <a:pt x="39077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68961" cy="1845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689911" y="3543946"/>
            <a:ext cx="2908178" cy="6000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sz="2678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Integration into RV32 Core</a:t>
            </a:r>
          </a:p>
          <a:p>
            <a:pPr algn="l" marL="578239" indent="-289120" lvl="1">
              <a:lnSpc>
                <a:spcPts val="3213"/>
              </a:lnSpc>
              <a:buFont typeface="Arial"/>
              <a:buChar char="•"/>
            </a:pPr>
            <a:r>
              <a:rPr lang="en-US" sz="267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PE tightly coupled with RV32 proce</a:t>
            </a:r>
            <a:r>
              <a:rPr lang="en-US" sz="267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ssor</a:t>
            </a:r>
          </a:p>
          <a:p>
            <a:pPr algn="l" marL="578239" indent="-289120" lvl="1">
              <a:lnSpc>
                <a:spcPts val="3213"/>
              </a:lnSpc>
              <a:buFont typeface="Arial"/>
              <a:buChar char="•"/>
            </a:pPr>
            <a:r>
              <a:rPr lang="en-US" sz="267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Accelerates compute-intensive ANN operations</a:t>
            </a:r>
          </a:p>
          <a:p>
            <a:pPr algn="l" marL="578239" indent="-289120" lvl="1">
              <a:lnSpc>
                <a:spcPts val="3213"/>
              </a:lnSpc>
              <a:buFont typeface="Arial"/>
              <a:buChar char="•"/>
            </a:pPr>
            <a:r>
              <a:rPr lang="en-US" sz="267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Reduces software instruction overhead</a:t>
            </a:r>
          </a:p>
          <a:p>
            <a:pPr algn="ctr">
              <a:lnSpc>
                <a:spcPts val="3213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1934906" y="3132617"/>
            <a:ext cx="3962410" cy="6012028"/>
            <a:chOff x="0" y="0"/>
            <a:chExt cx="1168961" cy="17736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8961" cy="1773625"/>
            </a:xfrm>
            <a:custGeom>
              <a:avLst/>
              <a:gdLst/>
              <a:ahLst/>
              <a:cxnLst/>
              <a:rect r="r" b="b" t="t" l="l"/>
              <a:pathLst>
                <a:path h="1773625" w="1168961">
                  <a:moveTo>
                    <a:pt x="39077" y="0"/>
                  </a:moveTo>
                  <a:lnTo>
                    <a:pt x="1129885" y="0"/>
                  </a:lnTo>
                  <a:cubicBezTo>
                    <a:pt x="1140248" y="0"/>
                    <a:pt x="1150188" y="4117"/>
                    <a:pt x="1157516" y="11445"/>
                  </a:cubicBezTo>
                  <a:cubicBezTo>
                    <a:pt x="1164844" y="18774"/>
                    <a:pt x="1168961" y="28713"/>
                    <a:pt x="1168961" y="39077"/>
                  </a:cubicBezTo>
                  <a:lnTo>
                    <a:pt x="1168961" y="1734548"/>
                  </a:lnTo>
                  <a:cubicBezTo>
                    <a:pt x="1168961" y="1744912"/>
                    <a:pt x="1164844" y="1754851"/>
                    <a:pt x="1157516" y="1762179"/>
                  </a:cubicBezTo>
                  <a:cubicBezTo>
                    <a:pt x="1150188" y="1769508"/>
                    <a:pt x="1140248" y="1773625"/>
                    <a:pt x="1129885" y="1773625"/>
                  </a:cubicBezTo>
                  <a:lnTo>
                    <a:pt x="39077" y="1773625"/>
                  </a:lnTo>
                  <a:cubicBezTo>
                    <a:pt x="28713" y="1773625"/>
                    <a:pt x="18774" y="1769508"/>
                    <a:pt x="11445" y="1762179"/>
                  </a:cubicBezTo>
                  <a:cubicBezTo>
                    <a:pt x="4117" y="1754851"/>
                    <a:pt x="0" y="1744912"/>
                    <a:pt x="0" y="1734548"/>
                  </a:cubicBezTo>
                  <a:lnTo>
                    <a:pt x="0" y="39077"/>
                  </a:lnTo>
                  <a:cubicBezTo>
                    <a:pt x="0" y="28713"/>
                    <a:pt x="4117" y="18774"/>
                    <a:pt x="11445" y="11445"/>
                  </a:cubicBezTo>
                  <a:cubicBezTo>
                    <a:pt x="18774" y="4117"/>
                    <a:pt x="28713" y="0"/>
                    <a:pt x="39077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68961" cy="1811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582606" y="3572521"/>
            <a:ext cx="2908178" cy="557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3"/>
              </a:lnSpc>
            </a:pPr>
            <a:r>
              <a:rPr lang="en-US" sz="2478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Software-Based Functional Verification</a:t>
            </a:r>
          </a:p>
          <a:p>
            <a:pPr algn="l" marL="535060" indent="-267530" lvl="1">
              <a:lnSpc>
                <a:spcPts val="2973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 reference implementation of ANN</a:t>
            </a:r>
          </a:p>
          <a:p>
            <a:pPr algn="l" marL="535060" indent="-267530" lvl="1">
              <a:lnSpc>
                <a:spcPts val="2973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Assembly-level implementation for low-level validation</a:t>
            </a:r>
          </a:p>
          <a:p>
            <a:pPr algn="l" marL="535060" indent="-267530" lvl="1">
              <a:lnSpc>
                <a:spcPts val="2973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Hardware results compared against software outputs</a:t>
            </a:r>
          </a:p>
          <a:p>
            <a:pPr algn="ctr">
              <a:lnSpc>
                <a:spcPts val="2973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0" y="0"/>
            <a:ext cx="3214829" cy="3782152"/>
          </a:xfrm>
          <a:custGeom>
            <a:avLst/>
            <a:gdLst/>
            <a:ahLst/>
            <a:cxnLst/>
            <a:rect r="r" b="b" t="t" l="l"/>
            <a:pathLst>
              <a:path h="3782152" w="3214829">
                <a:moveTo>
                  <a:pt x="0" y="0"/>
                </a:moveTo>
                <a:lnTo>
                  <a:pt x="3214829" y="0"/>
                </a:lnTo>
                <a:lnTo>
                  <a:pt x="3214829" y="3782152"/>
                </a:lnTo>
                <a:lnTo>
                  <a:pt x="0" y="3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0">
            <a:off x="15897316" y="5194278"/>
            <a:ext cx="4546302" cy="5348590"/>
          </a:xfrm>
          <a:custGeom>
            <a:avLst/>
            <a:gdLst/>
            <a:ahLst/>
            <a:cxnLst/>
            <a:rect r="r" b="b" t="t" l="l"/>
            <a:pathLst>
              <a:path h="5348590" w="4546302">
                <a:moveTo>
                  <a:pt x="4546302" y="5348590"/>
                </a:moveTo>
                <a:lnTo>
                  <a:pt x="0" y="5348590"/>
                </a:lnTo>
                <a:lnTo>
                  <a:pt x="0" y="0"/>
                </a:lnTo>
                <a:lnTo>
                  <a:pt x="4546302" y="0"/>
                </a:lnTo>
                <a:lnTo>
                  <a:pt x="4546302" y="53485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54548" y="1964681"/>
            <a:ext cx="12458411" cy="1339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MATHEMATICAL MODEL OF ANN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898996" y="3304530"/>
            <a:ext cx="10296952" cy="5953770"/>
            <a:chOff x="0" y="0"/>
            <a:chExt cx="3037732" cy="17564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37732" cy="1756438"/>
            </a:xfrm>
            <a:custGeom>
              <a:avLst/>
              <a:gdLst/>
              <a:ahLst/>
              <a:cxnLst/>
              <a:rect r="r" b="b" t="t" l="l"/>
              <a:pathLst>
                <a:path h="1756438" w="3037732">
                  <a:moveTo>
                    <a:pt x="15037" y="0"/>
                  </a:moveTo>
                  <a:lnTo>
                    <a:pt x="3022695" y="0"/>
                  </a:lnTo>
                  <a:cubicBezTo>
                    <a:pt x="3030999" y="0"/>
                    <a:pt x="3037732" y="6732"/>
                    <a:pt x="3037732" y="15037"/>
                  </a:cubicBezTo>
                  <a:lnTo>
                    <a:pt x="3037732" y="1741401"/>
                  </a:lnTo>
                  <a:cubicBezTo>
                    <a:pt x="3037732" y="1745389"/>
                    <a:pt x="3036148" y="1749214"/>
                    <a:pt x="3033327" y="1752034"/>
                  </a:cubicBezTo>
                  <a:cubicBezTo>
                    <a:pt x="3030507" y="1754854"/>
                    <a:pt x="3026683" y="1756438"/>
                    <a:pt x="3022695" y="1756438"/>
                  </a:cubicBezTo>
                  <a:lnTo>
                    <a:pt x="15037" y="1756438"/>
                  </a:lnTo>
                  <a:cubicBezTo>
                    <a:pt x="6732" y="1756438"/>
                    <a:pt x="0" y="1749706"/>
                    <a:pt x="0" y="1741401"/>
                  </a:cubicBezTo>
                  <a:lnTo>
                    <a:pt x="0" y="15037"/>
                  </a:lnTo>
                  <a:cubicBezTo>
                    <a:pt x="0" y="11049"/>
                    <a:pt x="1584" y="7224"/>
                    <a:pt x="4404" y="4404"/>
                  </a:cubicBezTo>
                  <a:cubicBezTo>
                    <a:pt x="7224" y="1584"/>
                    <a:pt x="11049" y="0"/>
                    <a:pt x="15037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037732" cy="1794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3214829" cy="3782152"/>
          </a:xfrm>
          <a:custGeom>
            <a:avLst/>
            <a:gdLst/>
            <a:ahLst/>
            <a:cxnLst/>
            <a:rect r="r" b="b" t="t" l="l"/>
            <a:pathLst>
              <a:path h="3782152" w="3214829">
                <a:moveTo>
                  <a:pt x="0" y="0"/>
                </a:moveTo>
                <a:lnTo>
                  <a:pt x="3214829" y="0"/>
                </a:lnTo>
                <a:lnTo>
                  <a:pt x="3214829" y="3782152"/>
                </a:lnTo>
                <a:lnTo>
                  <a:pt x="0" y="3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5897316" y="5194278"/>
            <a:ext cx="4546302" cy="5348590"/>
          </a:xfrm>
          <a:custGeom>
            <a:avLst/>
            <a:gdLst/>
            <a:ahLst/>
            <a:cxnLst/>
            <a:rect r="r" b="b" t="t" l="l"/>
            <a:pathLst>
              <a:path h="5348590" w="4546302">
                <a:moveTo>
                  <a:pt x="4546302" y="5348590"/>
                </a:moveTo>
                <a:lnTo>
                  <a:pt x="0" y="5348590"/>
                </a:lnTo>
                <a:lnTo>
                  <a:pt x="0" y="0"/>
                </a:lnTo>
                <a:lnTo>
                  <a:pt x="4546302" y="0"/>
                </a:lnTo>
                <a:lnTo>
                  <a:pt x="4546302" y="53485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570127" y="3411875"/>
            <a:ext cx="9147747" cy="5739081"/>
          </a:xfrm>
          <a:custGeom>
            <a:avLst/>
            <a:gdLst/>
            <a:ahLst/>
            <a:cxnLst/>
            <a:rect r="r" b="b" t="t" l="l"/>
            <a:pathLst>
              <a:path h="5739081" w="9147747">
                <a:moveTo>
                  <a:pt x="0" y="0"/>
                </a:moveTo>
                <a:lnTo>
                  <a:pt x="9147746" y="0"/>
                </a:lnTo>
                <a:lnTo>
                  <a:pt x="9147746" y="5739080"/>
                </a:lnTo>
                <a:lnTo>
                  <a:pt x="0" y="5739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3011817" y="0"/>
            <a:ext cx="6328303" cy="5814128"/>
          </a:xfrm>
          <a:custGeom>
            <a:avLst/>
            <a:gdLst/>
            <a:ahLst/>
            <a:cxnLst/>
            <a:rect r="r" b="b" t="t" l="l"/>
            <a:pathLst>
              <a:path h="5814128" w="6328303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897316" y="5194278"/>
            <a:ext cx="4546302" cy="5348590"/>
          </a:xfrm>
          <a:custGeom>
            <a:avLst/>
            <a:gdLst/>
            <a:ahLst/>
            <a:cxnLst/>
            <a:rect r="r" b="b" t="t" l="l"/>
            <a:pathLst>
              <a:path h="5348590" w="4546302">
                <a:moveTo>
                  <a:pt x="4546302" y="5348590"/>
                </a:moveTo>
                <a:lnTo>
                  <a:pt x="0" y="5348590"/>
                </a:lnTo>
                <a:lnTo>
                  <a:pt x="0" y="0"/>
                </a:lnTo>
                <a:lnTo>
                  <a:pt x="4546302" y="0"/>
                </a:lnTo>
                <a:lnTo>
                  <a:pt x="4546302" y="53485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88579" y="4062909"/>
            <a:ext cx="12805074" cy="2161182"/>
          </a:xfrm>
          <a:custGeom>
            <a:avLst/>
            <a:gdLst/>
            <a:ahLst/>
            <a:cxnLst/>
            <a:rect r="r" b="b" t="t" l="l"/>
            <a:pathLst>
              <a:path h="2161182" w="12805074">
                <a:moveTo>
                  <a:pt x="0" y="0"/>
                </a:moveTo>
                <a:lnTo>
                  <a:pt x="12805074" y="0"/>
                </a:lnTo>
                <a:lnTo>
                  <a:pt x="12805074" y="2161182"/>
                </a:lnTo>
                <a:lnTo>
                  <a:pt x="0" y="21611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6428" r="0" b="-642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40327" y="1754183"/>
            <a:ext cx="8007345" cy="1315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9800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DATA FLOW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14829" cy="3782152"/>
          </a:xfrm>
          <a:custGeom>
            <a:avLst/>
            <a:gdLst/>
            <a:ahLst/>
            <a:cxnLst/>
            <a:rect r="r" b="b" t="t" l="l"/>
            <a:pathLst>
              <a:path h="3782152" w="3214829">
                <a:moveTo>
                  <a:pt x="0" y="0"/>
                </a:moveTo>
                <a:lnTo>
                  <a:pt x="3214829" y="0"/>
                </a:lnTo>
                <a:lnTo>
                  <a:pt x="3214829" y="3782152"/>
                </a:lnTo>
                <a:lnTo>
                  <a:pt x="0" y="3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897316" y="5194278"/>
            <a:ext cx="4546302" cy="5348590"/>
          </a:xfrm>
          <a:custGeom>
            <a:avLst/>
            <a:gdLst/>
            <a:ahLst/>
            <a:cxnLst/>
            <a:rect r="r" b="b" t="t" l="l"/>
            <a:pathLst>
              <a:path h="5348590" w="4546302">
                <a:moveTo>
                  <a:pt x="4546302" y="5348590"/>
                </a:moveTo>
                <a:lnTo>
                  <a:pt x="0" y="5348590"/>
                </a:lnTo>
                <a:lnTo>
                  <a:pt x="0" y="0"/>
                </a:lnTo>
                <a:lnTo>
                  <a:pt x="4546302" y="0"/>
                </a:lnTo>
                <a:lnTo>
                  <a:pt x="4546302" y="53485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31096" y="1590964"/>
            <a:ext cx="10493462" cy="8607597"/>
          </a:xfrm>
          <a:custGeom>
            <a:avLst/>
            <a:gdLst/>
            <a:ahLst/>
            <a:cxnLst/>
            <a:rect r="r" b="b" t="t" l="l"/>
            <a:pathLst>
              <a:path h="8607597" w="10493462">
                <a:moveTo>
                  <a:pt x="0" y="0"/>
                </a:moveTo>
                <a:lnTo>
                  <a:pt x="10493461" y="0"/>
                </a:lnTo>
                <a:lnTo>
                  <a:pt x="10493461" y="8607597"/>
                </a:lnTo>
                <a:lnTo>
                  <a:pt x="0" y="86075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5" r="0" b="-13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49640" y="251114"/>
            <a:ext cx="10105823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ANN’s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14829" cy="3782152"/>
          </a:xfrm>
          <a:custGeom>
            <a:avLst/>
            <a:gdLst/>
            <a:ahLst/>
            <a:cxnLst/>
            <a:rect r="r" b="b" t="t" l="l"/>
            <a:pathLst>
              <a:path h="3782152" w="3214829">
                <a:moveTo>
                  <a:pt x="0" y="0"/>
                </a:moveTo>
                <a:lnTo>
                  <a:pt x="3214829" y="0"/>
                </a:lnTo>
                <a:lnTo>
                  <a:pt x="3214829" y="3782152"/>
                </a:lnTo>
                <a:lnTo>
                  <a:pt x="0" y="3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897316" y="5194278"/>
            <a:ext cx="4546302" cy="5348590"/>
          </a:xfrm>
          <a:custGeom>
            <a:avLst/>
            <a:gdLst/>
            <a:ahLst/>
            <a:cxnLst/>
            <a:rect r="r" b="b" t="t" l="l"/>
            <a:pathLst>
              <a:path h="5348590" w="4546302">
                <a:moveTo>
                  <a:pt x="4546302" y="5348590"/>
                </a:moveTo>
                <a:lnTo>
                  <a:pt x="0" y="5348590"/>
                </a:lnTo>
                <a:lnTo>
                  <a:pt x="0" y="0"/>
                </a:lnTo>
                <a:lnTo>
                  <a:pt x="4546302" y="0"/>
                </a:lnTo>
                <a:lnTo>
                  <a:pt x="4546302" y="53485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23082" y="1028700"/>
            <a:ext cx="10951371" cy="8677125"/>
          </a:xfrm>
          <a:custGeom>
            <a:avLst/>
            <a:gdLst/>
            <a:ahLst/>
            <a:cxnLst/>
            <a:rect r="r" b="b" t="t" l="l"/>
            <a:pathLst>
              <a:path h="8677125" w="10951371">
                <a:moveTo>
                  <a:pt x="0" y="0"/>
                </a:moveTo>
                <a:lnTo>
                  <a:pt x="10951371" y="0"/>
                </a:lnTo>
                <a:lnTo>
                  <a:pt x="10951371" y="8677125"/>
                </a:lnTo>
                <a:lnTo>
                  <a:pt x="0" y="8677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67000" y="180975"/>
            <a:ext cx="10105823" cy="1339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Core’s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41332" y="1028700"/>
            <a:ext cx="5346668" cy="9258300"/>
          </a:xfrm>
          <a:custGeom>
            <a:avLst/>
            <a:gdLst/>
            <a:ahLst/>
            <a:cxnLst/>
            <a:rect r="r" b="b" t="t" l="l"/>
            <a:pathLst>
              <a:path h="9258300" w="5346668">
                <a:moveTo>
                  <a:pt x="0" y="0"/>
                </a:moveTo>
                <a:lnTo>
                  <a:pt x="5346668" y="0"/>
                </a:lnTo>
                <a:lnTo>
                  <a:pt x="534666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635828" y="-156278"/>
            <a:ext cx="6328303" cy="5814128"/>
          </a:xfrm>
          <a:custGeom>
            <a:avLst/>
            <a:gdLst/>
            <a:ahLst/>
            <a:cxnLst/>
            <a:rect r="r" b="b" t="t" l="l"/>
            <a:pathLst>
              <a:path h="5814128" w="6328303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848628" y="3876900"/>
            <a:ext cx="11603971" cy="2533199"/>
            <a:chOff x="0" y="0"/>
            <a:chExt cx="3423319" cy="7473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23319" cy="747326"/>
            </a:xfrm>
            <a:custGeom>
              <a:avLst/>
              <a:gdLst/>
              <a:ahLst/>
              <a:cxnLst/>
              <a:rect r="r" b="b" t="t" l="l"/>
              <a:pathLst>
                <a:path h="747326" w="3423319">
                  <a:moveTo>
                    <a:pt x="13344" y="0"/>
                  </a:moveTo>
                  <a:lnTo>
                    <a:pt x="3409976" y="0"/>
                  </a:lnTo>
                  <a:cubicBezTo>
                    <a:pt x="3417345" y="0"/>
                    <a:pt x="3423319" y="5974"/>
                    <a:pt x="3423319" y="13344"/>
                  </a:cubicBezTo>
                  <a:lnTo>
                    <a:pt x="3423319" y="733983"/>
                  </a:lnTo>
                  <a:cubicBezTo>
                    <a:pt x="3423319" y="741352"/>
                    <a:pt x="3417345" y="747326"/>
                    <a:pt x="3409976" y="747326"/>
                  </a:cubicBezTo>
                  <a:lnTo>
                    <a:pt x="13344" y="747326"/>
                  </a:lnTo>
                  <a:cubicBezTo>
                    <a:pt x="5974" y="747326"/>
                    <a:pt x="0" y="741352"/>
                    <a:pt x="0" y="733983"/>
                  </a:cubicBezTo>
                  <a:lnTo>
                    <a:pt x="0" y="13344"/>
                  </a:lnTo>
                  <a:cubicBezTo>
                    <a:pt x="0" y="5974"/>
                    <a:pt x="5974" y="0"/>
                    <a:pt x="13344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423319" cy="785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999984" y="4091070"/>
            <a:ext cx="11301259" cy="2104859"/>
          </a:xfrm>
          <a:custGeom>
            <a:avLst/>
            <a:gdLst/>
            <a:ahLst/>
            <a:cxnLst/>
            <a:rect r="r" b="b" t="t" l="l"/>
            <a:pathLst>
              <a:path h="2104859" w="11301259">
                <a:moveTo>
                  <a:pt x="0" y="0"/>
                </a:moveTo>
                <a:lnTo>
                  <a:pt x="11301259" y="0"/>
                </a:lnTo>
                <a:lnTo>
                  <a:pt x="11301259" y="2104860"/>
                </a:lnTo>
                <a:lnTo>
                  <a:pt x="0" y="21048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52797" y="1926940"/>
            <a:ext cx="8779060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CUstom instruction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8373" y="5143500"/>
            <a:ext cx="3785107" cy="3785107"/>
          </a:xfrm>
          <a:custGeom>
            <a:avLst/>
            <a:gdLst/>
            <a:ahLst/>
            <a:cxnLst/>
            <a:rect r="r" b="b" t="t" l="l"/>
            <a:pathLst>
              <a:path h="3785107" w="3785107">
                <a:moveTo>
                  <a:pt x="0" y="0"/>
                </a:moveTo>
                <a:lnTo>
                  <a:pt x="3785106" y="0"/>
                </a:lnTo>
                <a:lnTo>
                  <a:pt x="3785106" y="3785107"/>
                </a:lnTo>
                <a:lnTo>
                  <a:pt x="0" y="3785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35507" y="5143500"/>
            <a:ext cx="3785107" cy="3785107"/>
          </a:xfrm>
          <a:custGeom>
            <a:avLst/>
            <a:gdLst/>
            <a:ahLst/>
            <a:cxnLst/>
            <a:rect r="r" b="b" t="t" l="l"/>
            <a:pathLst>
              <a:path h="3785107" w="3785107">
                <a:moveTo>
                  <a:pt x="0" y="0"/>
                </a:moveTo>
                <a:lnTo>
                  <a:pt x="3785106" y="0"/>
                </a:lnTo>
                <a:lnTo>
                  <a:pt x="3785106" y="3785107"/>
                </a:lnTo>
                <a:lnTo>
                  <a:pt x="0" y="3785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63143" y="5143500"/>
            <a:ext cx="3785107" cy="3785107"/>
          </a:xfrm>
          <a:custGeom>
            <a:avLst/>
            <a:gdLst/>
            <a:ahLst/>
            <a:cxnLst/>
            <a:rect r="r" b="b" t="t" l="l"/>
            <a:pathLst>
              <a:path h="3785107" w="3785107">
                <a:moveTo>
                  <a:pt x="0" y="0"/>
                </a:moveTo>
                <a:lnTo>
                  <a:pt x="3785106" y="0"/>
                </a:lnTo>
                <a:lnTo>
                  <a:pt x="3785106" y="3785107"/>
                </a:lnTo>
                <a:lnTo>
                  <a:pt x="0" y="3785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994521" y="5143500"/>
            <a:ext cx="3785107" cy="3785107"/>
          </a:xfrm>
          <a:custGeom>
            <a:avLst/>
            <a:gdLst/>
            <a:ahLst/>
            <a:cxnLst/>
            <a:rect r="r" b="b" t="t" l="l"/>
            <a:pathLst>
              <a:path h="3785107" w="3785107">
                <a:moveTo>
                  <a:pt x="0" y="0"/>
                </a:moveTo>
                <a:lnTo>
                  <a:pt x="3785106" y="0"/>
                </a:lnTo>
                <a:lnTo>
                  <a:pt x="3785106" y="3785107"/>
                </a:lnTo>
                <a:lnTo>
                  <a:pt x="0" y="3785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51605" y="1532718"/>
            <a:ext cx="8360400" cy="2606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Design &amp; Verification</a:t>
            </a: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-1650481" y="6205608"/>
            <a:ext cx="5724244" cy="6734405"/>
          </a:xfrm>
          <a:custGeom>
            <a:avLst/>
            <a:gdLst/>
            <a:ahLst/>
            <a:cxnLst/>
            <a:rect r="r" b="b" t="t" l="l"/>
            <a:pathLst>
              <a:path h="6734405" w="5724244">
                <a:moveTo>
                  <a:pt x="0" y="6734405"/>
                </a:moveTo>
                <a:lnTo>
                  <a:pt x="5724245" y="6734405"/>
                </a:lnTo>
                <a:lnTo>
                  <a:pt x="5724245" y="0"/>
                </a:lnTo>
                <a:lnTo>
                  <a:pt x="0" y="0"/>
                </a:lnTo>
                <a:lnTo>
                  <a:pt x="0" y="673440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68190" y="6458203"/>
            <a:ext cx="2465473" cy="155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0"/>
              </a:lnSpc>
            </a:pPr>
            <a:r>
              <a:rPr lang="en-US" b="true" sz="2200">
                <a:solidFill>
                  <a:srgbClr val="104378"/>
                </a:solidFill>
                <a:latin typeface="Poppins Bold"/>
                <a:ea typeface="Poppins Bold"/>
                <a:cs typeface="Poppins Bold"/>
                <a:sym typeface="Poppins Bold"/>
              </a:rPr>
              <a:t>Software reference model implemented in C for functional validation</a:t>
            </a:r>
          </a:p>
        </p:txBody>
      </p:sp>
      <p:sp>
        <p:nvSpPr>
          <p:cNvPr name="Freeform 9" id="9"/>
          <p:cNvSpPr/>
          <p:nvPr/>
        </p:nvSpPr>
        <p:spPr>
          <a:xfrm flipH="false" flipV="true" rot="10205757">
            <a:off x="14660979" y="-771570"/>
            <a:ext cx="6688562" cy="7868896"/>
          </a:xfrm>
          <a:custGeom>
            <a:avLst/>
            <a:gdLst/>
            <a:ahLst/>
            <a:cxnLst/>
            <a:rect r="r" b="b" t="t" l="l"/>
            <a:pathLst>
              <a:path h="7868896" w="6688562">
                <a:moveTo>
                  <a:pt x="0" y="7868896"/>
                </a:moveTo>
                <a:lnTo>
                  <a:pt x="6688562" y="7868896"/>
                </a:lnTo>
                <a:lnTo>
                  <a:pt x="6688562" y="0"/>
                </a:lnTo>
                <a:lnTo>
                  <a:pt x="0" y="0"/>
                </a:lnTo>
                <a:lnTo>
                  <a:pt x="0" y="786889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995575" y="6153344"/>
            <a:ext cx="2465473" cy="2161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0"/>
              </a:lnSpc>
            </a:pPr>
            <a:r>
              <a:rPr lang="en-US" b="true" sz="2200">
                <a:solidFill>
                  <a:srgbClr val="104378"/>
                </a:solidFill>
                <a:latin typeface="Poppins Bold"/>
                <a:ea typeface="Poppins Bold"/>
                <a:cs typeface="Poppins Bold"/>
                <a:sym typeface="Poppins Bold"/>
              </a:rPr>
              <a:t>Simulation-based verification using test vectors loaded from memory files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22960" y="6305773"/>
            <a:ext cx="2465473" cy="185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0"/>
              </a:lnSpc>
            </a:pPr>
            <a:r>
              <a:rPr lang="en-US" sz="2200" b="true">
                <a:solidFill>
                  <a:srgbClr val="104378"/>
                </a:solidFill>
                <a:latin typeface="Poppins Bold"/>
                <a:ea typeface="Poppins Bold"/>
                <a:cs typeface="Poppins Bold"/>
                <a:sym typeface="Poppins Bold"/>
              </a:rPr>
              <a:t>Cycle-accurate comparison between hardware outputs and reference results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54338" y="6458203"/>
            <a:ext cx="2465473" cy="155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0"/>
              </a:lnSpc>
            </a:pPr>
            <a:r>
              <a:rPr lang="en-US" b="true" sz="2200">
                <a:solidFill>
                  <a:srgbClr val="104378"/>
                </a:solidFill>
                <a:latin typeface="Poppins Bold"/>
                <a:ea typeface="Poppins Bold"/>
                <a:cs typeface="Poppins Bold"/>
                <a:sym typeface="Poppins Bold"/>
              </a:rPr>
              <a:t>ReLU activation verified, ensuring correct clipping of negative sums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604682">
            <a:off x="16199619" y="7040622"/>
            <a:ext cx="6328303" cy="5814128"/>
          </a:xfrm>
          <a:custGeom>
            <a:avLst/>
            <a:gdLst/>
            <a:ahLst/>
            <a:cxnLst/>
            <a:rect r="r" b="b" t="t" l="l"/>
            <a:pathLst>
              <a:path h="5814128" w="6328303">
                <a:moveTo>
                  <a:pt x="0" y="0"/>
                </a:moveTo>
                <a:lnTo>
                  <a:pt x="6328302" y="0"/>
                </a:lnTo>
                <a:lnTo>
                  <a:pt x="6328302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16486" y="1721936"/>
            <a:ext cx="9473907" cy="161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RESULTS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-3011817" y="0"/>
            <a:ext cx="6328303" cy="5814128"/>
          </a:xfrm>
          <a:custGeom>
            <a:avLst/>
            <a:gdLst/>
            <a:ahLst/>
            <a:cxnLst/>
            <a:rect r="r" b="b" t="t" l="l"/>
            <a:pathLst>
              <a:path h="5814128" w="6328303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7905" y="3183877"/>
            <a:ext cx="16932191" cy="6074423"/>
          </a:xfrm>
          <a:custGeom>
            <a:avLst/>
            <a:gdLst/>
            <a:ahLst/>
            <a:cxnLst/>
            <a:rect r="r" b="b" t="t" l="l"/>
            <a:pathLst>
              <a:path h="6074423" w="16932191">
                <a:moveTo>
                  <a:pt x="0" y="0"/>
                </a:moveTo>
                <a:lnTo>
                  <a:pt x="16932190" y="0"/>
                </a:lnTo>
                <a:lnTo>
                  <a:pt x="16932190" y="6074423"/>
                </a:lnTo>
                <a:lnTo>
                  <a:pt x="0" y="6074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328784" y="9344496"/>
            <a:ext cx="5909193" cy="60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>
                <a:solidFill>
                  <a:srgbClr val="104378"/>
                </a:solidFill>
                <a:latin typeface="Poppins"/>
                <a:ea typeface="Poppins"/>
                <a:cs typeface="Poppins"/>
                <a:sym typeface="Poppins"/>
              </a:rPr>
              <a:t>Simulation Waveforms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604682">
            <a:off x="16199619" y="7040622"/>
            <a:ext cx="6328303" cy="5814128"/>
          </a:xfrm>
          <a:custGeom>
            <a:avLst/>
            <a:gdLst/>
            <a:ahLst/>
            <a:cxnLst/>
            <a:rect r="r" b="b" t="t" l="l"/>
            <a:pathLst>
              <a:path h="5814128" w="6328303">
                <a:moveTo>
                  <a:pt x="0" y="0"/>
                </a:moveTo>
                <a:lnTo>
                  <a:pt x="6328302" y="0"/>
                </a:lnTo>
                <a:lnTo>
                  <a:pt x="6328302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011817" y="0"/>
            <a:ext cx="6328303" cy="5814128"/>
          </a:xfrm>
          <a:custGeom>
            <a:avLst/>
            <a:gdLst/>
            <a:ahLst/>
            <a:cxnLst/>
            <a:rect r="r" b="b" t="t" l="l"/>
            <a:pathLst>
              <a:path h="5814128" w="6328303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61852" y="783434"/>
            <a:ext cx="10926255" cy="8631742"/>
          </a:xfrm>
          <a:custGeom>
            <a:avLst/>
            <a:gdLst/>
            <a:ahLst/>
            <a:cxnLst/>
            <a:rect r="r" b="b" t="t" l="l"/>
            <a:pathLst>
              <a:path h="8631742" w="10926255">
                <a:moveTo>
                  <a:pt x="0" y="0"/>
                </a:moveTo>
                <a:lnTo>
                  <a:pt x="10926255" y="0"/>
                </a:lnTo>
                <a:lnTo>
                  <a:pt x="10926255" y="8631742"/>
                </a:lnTo>
                <a:lnTo>
                  <a:pt x="0" y="86317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762401" y="9763164"/>
            <a:ext cx="5909193" cy="60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>
                <a:solidFill>
                  <a:srgbClr val="104378"/>
                </a:solidFill>
                <a:latin typeface="Poppins"/>
                <a:ea typeface="Poppins"/>
                <a:cs typeface="Poppins"/>
                <a:sym typeface="Poppins"/>
              </a:rPr>
              <a:t>Tcl Console’s Output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604682">
            <a:off x="16199619" y="7040622"/>
            <a:ext cx="6328303" cy="5814128"/>
          </a:xfrm>
          <a:custGeom>
            <a:avLst/>
            <a:gdLst/>
            <a:ahLst/>
            <a:cxnLst/>
            <a:rect r="r" b="b" t="t" l="l"/>
            <a:pathLst>
              <a:path h="5814128" w="6328303">
                <a:moveTo>
                  <a:pt x="0" y="0"/>
                </a:moveTo>
                <a:lnTo>
                  <a:pt x="6328302" y="0"/>
                </a:lnTo>
                <a:lnTo>
                  <a:pt x="6328302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011817" y="0"/>
            <a:ext cx="6328303" cy="5814128"/>
          </a:xfrm>
          <a:custGeom>
            <a:avLst/>
            <a:gdLst/>
            <a:ahLst/>
            <a:cxnLst/>
            <a:rect r="r" b="b" t="t" l="l"/>
            <a:pathLst>
              <a:path h="5814128" w="6328303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16486" y="632207"/>
            <a:ext cx="11342678" cy="9022585"/>
          </a:xfrm>
          <a:custGeom>
            <a:avLst/>
            <a:gdLst/>
            <a:ahLst/>
            <a:cxnLst/>
            <a:rect r="r" b="b" t="t" l="l"/>
            <a:pathLst>
              <a:path h="9022585" w="11342678">
                <a:moveTo>
                  <a:pt x="0" y="0"/>
                </a:moveTo>
                <a:lnTo>
                  <a:pt x="11342678" y="0"/>
                </a:lnTo>
                <a:lnTo>
                  <a:pt x="11342678" y="9022586"/>
                </a:lnTo>
                <a:lnTo>
                  <a:pt x="0" y="90225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762401" y="9763164"/>
            <a:ext cx="5909193" cy="60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>
                <a:solidFill>
                  <a:srgbClr val="104378"/>
                </a:solidFill>
                <a:latin typeface="Poppins"/>
                <a:ea typeface="Poppins"/>
                <a:cs typeface="Poppins"/>
                <a:sym typeface="Poppins"/>
              </a:rPr>
              <a:t>Tcl Console’s Output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604682">
            <a:off x="16199619" y="7040622"/>
            <a:ext cx="6328303" cy="5814128"/>
          </a:xfrm>
          <a:custGeom>
            <a:avLst/>
            <a:gdLst/>
            <a:ahLst/>
            <a:cxnLst/>
            <a:rect r="r" b="b" t="t" l="l"/>
            <a:pathLst>
              <a:path h="5814128" w="6328303">
                <a:moveTo>
                  <a:pt x="0" y="0"/>
                </a:moveTo>
                <a:lnTo>
                  <a:pt x="6328302" y="0"/>
                </a:lnTo>
                <a:lnTo>
                  <a:pt x="6328302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16486" y="1721936"/>
            <a:ext cx="9473907" cy="161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RESULTS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-3011817" y="0"/>
            <a:ext cx="6328303" cy="5814128"/>
          </a:xfrm>
          <a:custGeom>
            <a:avLst/>
            <a:gdLst/>
            <a:ahLst/>
            <a:cxnLst/>
            <a:rect r="r" b="b" t="t" l="l"/>
            <a:pathLst>
              <a:path h="5814128" w="6328303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59566" y="3507415"/>
            <a:ext cx="10592017" cy="4440088"/>
          </a:xfrm>
          <a:custGeom>
            <a:avLst/>
            <a:gdLst/>
            <a:ahLst/>
            <a:cxnLst/>
            <a:rect r="r" b="b" t="t" l="l"/>
            <a:pathLst>
              <a:path h="4440088" w="10592017">
                <a:moveTo>
                  <a:pt x="0" y="0"/>
                </a:moveTo>
                <a:lnTo>
                  <a:pt x="10592017" y="0"/>
                </a:lnTo>
                <a:lnTo>
                  <a:pt x="10592017" y="4440088"/>
                </a:lnTo>
                <a:lnTo>
                  <a:pt x="0" y="4440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481359" y="8109428"/>
            <a:ext cx="4252928" cy="60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>
                <a:solidFill>
                  <a:srgbClr val="104378"/>
                </a:solidFill>
                <a:latin typeface="Poppins"/>
                <a:ea typeface="Poppins"/>
                <a:cs typeface="Poppins"/>
                <a:sym typeface="Poppins"/>
              </a:rPr>
              <a:t>C Code Output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604682">
            <a:off x="16199619" y="7040622"/>
            <a:ext cx="6328303" cy="5814128"/>
          </a:xfrm>
          <a:custGeom>
            <a:avLst/>
            <a:gdLst/>
            <a:ahLst/>
            <a:cxnLst/>
            <a:rect r="r" b="b" t="t" l="l"/>
            <a:pathLst>
              <a:path h="5814128" w="6328303">
                <a:moveTo>
                  <a:pt x="0" y="0"/>
                </a:moveTo>
                <a:lnTo>
                  <a:pt x="6328302" y="0"/>
                </a:lnTo>
                <a:lnTo>
                  <a:pt x="6328302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16486" y="1721936"/>
            <a:ext cx="9473907" cy="161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RESULTS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-3011817" y="0"/>
            <a:ext cx="6328303" cy="5814128"/>
          </a:xfrm>
          <a:custGeom>
            <a:avLst/>
            <a:gdLst/>
            <a:ahLst/>
            <a:cxnLst/>
            <a:rect r="r" b="b" t="t" l="l"/>
            <a:pathLst>
              <a:path h="5814128" w="6328303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63909" y="4755527"/>
            <a:ext cx="10419345" cy="1727068"/>
          </a:xfrm>
          <a:custGeom>
            <a:avLst/>
            <a:gdLst/>
            <a:ahLst/>
            <a:cxnLst/>
            <a:rect r="r" b="b" t="t" l="l"/>
            <a:pathLst>
              <a:path h="1727068" w="10419345">
                <a:moveTo>
                  <a:pt x="0" y="0"/>
                </a:moveTo>
                <a:lnTo>
                  <a:pt x="10419345" y="0"/>
                </a:lnTo>
                <a:lnTo>
                  <a:pt x="10419345" y="1727069"/>
                </a:lnTo>
                <a:lnTo>
                  <a:pt x="0" y="1727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350169" y="7256697"/>
            <a:ext cx="4252928" cy="1155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>
                <a:solidFill>
                  <a:srgbClr val="104378"/>
                </a:solidFill>
                <a:latin typeface="Poppins"/>
                <a:ea typeface="Poppins"/>
                <a:cs typeface="Poppins"/>
                <a:sym typeface="Poppins"/>
              </a:rPr>
              <a:t>Assembly Code Output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54548" y="1964681"/>
            <a:ext cx="5949668" cy="1339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CONCLUSION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354548" y="3304530"/>
            <a:ext cx="13578903" cy="5953770"/>
            <a:chOff x="0" y="0"/>
            <a:chExt cx="4005949" cy="17564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05949" cy="1756438"/>
            </a:xfrm>
            <a:custGeom>
              <a:avLst/>
              <a:gdLst/>
              <a:ahLst/>
              <a:cxnLst/>
              <a:rect r="r" b="b" t="t" l="l"/>
              <a:pathLst>
                <a:path h="1756438" w="4005949">
                  <a:moveTo>
                    <a:pt x="11403" y="0"/>
                  </a:moveTo>
                  <a:lnTo>
                    <a:pt x="3994546" y="0"/>
                  </a:lnTo>
                  <a:cubicBezTo>
                    <a:pt x="4000844" y="0"/>
                    <a:pt x="4005949" y="5105"/>
                    <a:pt x="4005949" y="11403"/>
                  </a:cubicBezTo>
                  <a:lnTo>
                    <a:pt x="4005949" y="1745035"/>
                  </a:lnTo>
                  <a:cubicBezTo>
                    <a:pt x="4005949" y="1751333"/>
                    <a:pt x="4000844" y="1756438"/>
                    <a:pt x="3994546" y="1756438"/>
                  </a:cubicBezTo>
                  <a:lnTo>
                    <a:pt x="11403" y="1756438"/>
                  </a:lnTo>
                  <a:cubicBezTo>
                    <a:pt x="5105" y="1756438"/>
                    <a:pt x="0" y="1751333"/>
                    <a:pt x="0" y="1745035"/>
                  </a:cubicBezTo>
                  <a:lnTo>
                    <a:pt x="0" y="11403"/>
                  </a:lnTo>
                  <a:cubicBezTo>
                    <a:pt x="0" y="5105"/>
                    <a:pt x="5105" y="0"/>
                    <a:pt x="11403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005949" cy="1794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3214829" cy="3782152"/>
          </a:xfrm>
          <a:custGeom>
            <a:avLst/>
            <a:gdLst/>
            <a:ahLst/>
            <a:cxnLst/>
            <a:rect r="r" b="b" t="t" l="l"/>
            <a:pathLst>
              <a:path h="3782152" w="3214829">
                <a:moveTo>
                  <a:pt x="0" y="0"/>
                </a:moveTo>
                <a:lnTo>
                  <a:pt x="3214829" y="0"/>
                </a:lnTo>
                <a:lnTo>
                  <a:pt x="3214829" y="3782152"/>
                </a:lnTo>
                <a:lnTo>
                  <a:pt x="0" y="3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5897316" y="5194278"/>
            <a:ext cx="4546302" cy="5348590"/>
          </a:xfrm>
          <a:custGeom>
            <a:avLst/>
            <a:gdLst/>
            <a:ahLst/>
            <a:cxnLst/>
            <a:rect r="r" b="b" t="t" l="l"/>
            <a:pathLst>
              <a:path h="5348590" w="4546302">
                <a:moveTo>
                  <a:pt x="4546302" y="5348590"/>
                </a:moveTo>
                <a:lnTo>
                  <a:pt x="0" y="5348590"/>
                </a:lnTo>
                <a:lnTo>
                  <a:pt x="0" y="0"/>
                </a:lnTo>
                <a:lnTo>
                  <a:pt x="4546302" y="0"/>
                </a:lnTo>
                <a:lnTo>
                  <a:pt x="4546302" y="53485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51736" y="3762376"/>
            <a:ext cx="12784528" cy="5495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Designed and verified a simple, pipelined neural network processing element in Verilog HDL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Demonstrated efficient mapping of neuron computation to hardware using a single MAC unit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Verified functional correctness using a software reference model and simulation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Showed how pipelining improves throughput compared to sequential computation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Established a clear foundation for extending the design to multiple neurons or layers</a:t>
            </a:r>
          </a:p>
          <a:p>
            <a:pPr algn="l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28071" y="2910499"/>
            <a:ext cx="4259929" cy="7376501"/>
          </a:xfrm>
          <a:custGeom>
            <a:avLst/>
            <a:gdLst/>
            <a:ahLst/>
            <a:cxnLst/>
            <a:rect r="r" b="b" t="t" l="l"/>
            <a:pathLst>
              <a:path h="7376501" w="4259929">
                <a:moveTo>
                  <a:pt x="0" y="0"/>
                </a:moveTo>
                <a:lnTo>
                  <a:pt x="4259929" y="0"/>
                </a:lnTo>
                <a:lnTo>
                  <a:pt x="4259929" y="7376501"/>
                </a:lnTo>
                <a:lnTo>
                  <a:pt x="0" y="7376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34441" y="4438680"/>
            <a:ext cx="6419119" cy="161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THANK YOU!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-3825202" y="-670628"/>
            <a:ext cx="6328303" cy="5814128"/>
          </a:xfrm>
          <a:custGeom>
            <a:avLst/>
            <a:gdLst/>
            <a:ahLst/>
            <a:cxnLst/>
            <a:rect r="r" b="b" t="t" l="l"/>
            <a:pathLst>
              <a:path h="5814128" w="6328303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DAG8PiMmgqk</dc:identifier>
  <dcterms:modified xsi:type="dcterms:W3CDTF">2011-08-01T06:04:30Z</dcterms:modified>
  <cp:revision>1</cp:revision>
  <dc:title>Design of a Pipelined ANN Processing Element for RISC-V Core</dc:title>
</cp:coreProperties>
</file>